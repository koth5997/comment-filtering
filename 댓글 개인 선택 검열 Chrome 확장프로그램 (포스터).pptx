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8000663" cy="306006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0C51"/>
    <a:srgbClr val="016732"/>
    <a:srgbClr val="E04C2B"/>
    <a:srgbClr val="E13734"/>
    <a:srgbClr val="656565"/>
    <a:srgbClr val="E342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50" d="100"/>
          <a:sy n="50" d="100"/>
        </p:scale>
        <p:origin x="994" y="-55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987F1-3C3F-A4C5-E9F3-004C37C6E3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" y="0"/>
            <a:ext cx="18000113" cy="306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379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1629208"/>
            <a:ext cx="15525572" cy="59147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8146007"/>
            <a:ext cx="15525572" cy="194158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28362276"/>
            <a:ext cx="4050149" cy="162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D3C91F-FA28-407A-8CFC-3C2182B29ACE}" type="datetimeFigureOut">
              <a:rPr lang="ko-KR" altLang="en-US" smtClean="0"/>
              <a:t>2025-11-01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28362276"/>
            <a:ext cx="6075224" cy="162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28362276"/>
            <a:ext cx="4050149" cy="162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4798F3-106C-4201-9153-C966A556C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321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1800088" rtl="0" eaLnBrk="1" latinLnBrk="1" hangingPunct="1">
        <a:lnSpc>
          <a:spcPct val="90000"/>
        </a:lnSpc>
        <a:spcBef>
          <a:spcPct val="0"/>
        </a:spcBef>
        <a:buNone/>
        <a:defRPr sz="86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0022" indent="-450022" algn="l" defTabSz="1800088" rtl="0" eaLnBrk="1" latinLnBrk="1" hangingPunct="1">
        <a:lnSpc>
          <a:spcPct val="90000"/>
        </a:lnSpc>
        <a:spcBef>
          <a:spcPts val="1969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1pPr>
      <a:lvl2pPr marL="1350066" indent="-450022" algn="l" defTabSz="1800088" rtl="0" eaLnBrk="1" latinLnBrk="1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250110" indent="-450022" algn="l" defTabSz="1800088" rtl="0" eaLnBrk="1" latinLnBrk="1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937" kern="1200">
          <a:solidFill>
            <a:schemeClr val="tx1"/>
          </a:solidFill>
          <a:latin typeface="+mn-lt"/>
          <a:ea typeface="+mn-ea"/>
          <a:cs typeface="+mn-cs"/>
        </a:defRPr>
      </a:lvl3pPr>
      <a:lvl4pPr marL="3150154" indent="-450022" algn="l" defTabSz="1800088" rtl="0" eaLnBrk="1" latinLnBrk="1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4050198" indent="-450022" algn="l" defTabSz="1800088" rtl="0" eaLnBrk="1" latinLnBrk="1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950242" indent="-450022" algn="l" defTabSz="1800088" rtl="0" eaLnBrk="1" latinLnBrk="1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850285" indent="-450022" algn="l" defTabSz="1800088" rtl="0" eaLnBrk="1" latinLnBrk="1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750329" indent="-450022" algn="l" defTabSz="1800088" rtl="0" eaLnBrk="1" latinLnBrk="1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650373" indent="-450022" algn="l" defTabSz="1800088" rtl="0" eaLnBrk="1" latinLnBrk="1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00088" rtl="0" eaLnBrk="1" latinLnBrk="1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1pPr>
      <a:lvl2pPr marL="900044" algn="l" defTabSz="1800088" rtl="0" eaLnBrk="1" latinLnBrk="1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800088" algn="l" defTabSz="1800088" rtl="0" eaLnBrk="1" latinLnBrk="1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700132" algn="l" defTabSz="1800088" rtl="0" eaLnBrk="1" latinLnBrk="1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3600176" algn="l" defTabSz="1800088" rtl="0" eaLnBrk="1" latinLnBrk="1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500220" algn="l" defTabSz="1800088" rtl="0" eaLnBrk="1" latinLnBrk="1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400264" algn="l" defTabSz="1800088" rtl="0" eaLnBrk="1" latinLnBrk="1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300307" algn="l" defTabSz="1800088" rtl="0" eaLnBrk="1" latinLnBrk="1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200351" algn="l" defTabSz="1800088" rtl="0" eaLnBrk="1" latinLnBrk="1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사각형: 둥근 모서리 1030">
            <a:extLst>
              <a:ext uri="{FF2B5EF4-FFF2-40B4-BE49-F238E27FC236}">
                <a16:creationId xmlns:a16="http://schemas.microsoft.com/office/drawing/2014/main" id="{00E8E69A-5CB0-1E78-C703-1BF1D0FE5BBF}"/>
              </a:ext>
            </a:extLst>
          </p:cNvPr>
          <p:cNvSpPr/>
          <p:nvPr/>
        </p:nvSpPr>
        <p:spPr>
          <a:xfrm>
            <a:off x="11088065" y="17629409"/>
            <a:ext cx="4656472" cy="242351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77E5C0-9504-984F-98D6-4F26D119266B}"/>
              </a:ext>
            </a:extLst>
          </p:cNvPr>
          <p:cNvSpPr txBox="1"/>
          <p:nvPr/>
        </p:nvSpPr>
        <p:spPr>
          <a:xfrm>
            <a:off x="1140044" y="366114"/>
            <a:ext cx="805651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b="1" spc="-300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개인 맞춤형 댓글 필터링 </a:t>
            </a:r>
            <a:r>
              <a:rPr lang="en-US" altLang="ko-KR" sz="4400" b="1" spc="-300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Chrome</a:t>
            </a:r>
          </a:p>
          <a:p>
            <a:r>
              <a:rPr lang="ko-KR" altLang="en-US" sz="4400" b="1" spc="-300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확장 프로그램 시스템 개발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F69547-20B3-AB4D-BF37-E30827A3BC57}"/>
              </a:ext>
            </a:extLst>
          </p:cNvPr>
          <p:cNvSpPr txBox="1"/>
          <p:nvPr/>
        </p:nvSpPr>
        <p:spPr>
          <a:xfrm>
            <a:off x="14257734" y="1330491"/>
            <a:ext cx="2435282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500" b="1" spc="-300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컴퓨터공학과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5ADF7C-3624-33B8-FFA9-C21D04508890}"/>
              </a:ext>
            </a:extLst>
          </p:cNvPr>
          <p:cNvSpPr txBox="1"/>
          <p:nvPr/>
        </p:nvSpPr>
        <p:spPr>
          <a:xfrm>
            <a:off x="12570742" y="2309515"/>
            <a:ext cx="463620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200" spc="-300" dirty="0">
                <a:solidFill>
                  <a:srgbClr val="D40C5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학생</a:t>
            </a:r>
            <a:r>
              <a:rPr lang="en-US" altLang="ko-KR" sz="2200" spc="-300" dirty="0">
                <a:solidFill>
                  <a:srgbClr val="D40C5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_</a:t>
            </a:r>
            <a:r>
              <a:rPr lang="en-US" altLang="ko-KR" sz="2200" spc="-300" dirty="0">
                <a:solidFill>
                  <a:srgbClr val="01673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sz="2200" spc="-3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 </a:t>
            </a:r>
            <a:r>
              <a:rPr lang="ko-KR" altLang="en-US" sz="2200" spc="-300" dirty="0">
                <a:solidFill>
                  <a:srgbClr val="656565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유대겸 </a:t>
            </a:r>
            <a:r>
              <a:rPr lang="ko-KR" altLang="en-US" sz="2200" spc="-300" dirty="0" err="1">
                <a:solidFill>
                  <a:srgbClr val="656565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고태희</a:t>
            </a:r>
            <a:r>
              <a:rPr lang="ko-KR" altLang="en-US" sz="2200" spc="-300" dirty="0">
                <a:solidFill>
                  <a:srgbClr val="656565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   </a:t>
            </a:r>
            <a:r>
              <a:rPr lang="ko-KR" altLang="en-US" sz="2200" spc="-300" dirty="0">
                <a:solidFill>
                  <a:srgbClr val="D40C5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지도교수</a:t>
            </a:r>
            <a:r>
              <a:rPr lang="en-US" altLang="ko-KR" sz="2200" spc="-300" dirty="0">
                <a:solidFill>
                  <a:srgbClr val="D40C5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_</a:t>
            </a:r>
            <a:r>
              <a:rPr lang="en-US" altLang="ko-KR" sz="2200" spc="-300" dirty="0">
                <a:solidFill>
                  <a:srgbClr val="E3423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 </a:t>
            </a:r>
            <a:r>
              <a:rPr lang="ko-KR" altLang="en-US" sz="2200" spc="-300" dirty="0" err="1">
                <a:solidFill>
                  <a:srgbClr val="656565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이병국</a:t>
            </a:r>
            <a:endParaRPr lang="ko-KR" altLang="en-US" sz="2200" spc="-300" dirty="0">
              <a:solidFill>
                <a:srgbClr val="656565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16E6E8-1870-B00D-AB2A-A6A0829FD39B}"/>
              </a:ext>
            </a:extLst>
          </p:cNvPr>
          <p:cNvSpPr txBox="1"/>
          <p:nvPr/>
        </p:nvSpPr>
        <p:spPr>
          <a:xfrm>
            <a:off x="682253" y="4029162"/>
            <a:ext cx="556434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600" spc="-150" dirty="0">
                <a:solidFill>
                  <a:srgbClr val="D40C51"/>
                </a:solidFill>
                <a:latin typeface="Calibri" panose="020F0502020204030204" pitchFamily="34" charset="0"/>
                <a:ea typeface="Noto Sans KR Medium" panose="020B0200000000000000" pitchFamily="50" charset="-127"/>
                <a:cs typeface="Calibri" panose="020F0502020204030204" pitchFamily="34" charset="0"/>
              </a:rPr>
              <a:t>∙  </a:t>
            </a:r>
            <a:r>
              <a:rPr lang="ko-KR" altLang="en-US" sz="2600" spc="-150" dirty="0">
                <a:solidFill>
                  <a:srgbClr val="D40C5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온라인 댓글 환경의 부정적 문제 발생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62EBA6-4F29-3B07-8257-49053492E329}"/>
              </a:ext>
            </a:extLst>
          </p:cNvPr>
          <p:cNvSpPr txBox="1"/>
          <p:nvPr/>
        </p:nvSpPr>
        <p:spPr>
          <a:xfrm>
            <a:off x="795269" y="4509349"/>
            <a:ext cx="1519568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익명성이 보장된 온라인 플랫폼에서는 악성 댓글</a:t>
            </a:r>
            <a:r>
              <a:rPr lang="en-US" altLang="ko-KR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lang="ko-KR" altLang="en-US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혐오 표현</a:t>
            </a:r>
            <a:r>
              <a:rPr lang="en-US" altLang="ko-KR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lang="ko-KR" altLang="en-US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정치적 편향 발언이 빈번히 발생하고 있습니다</a:t>
            </a:r>
            <a:r>
              <a:rPr lang="en-US" altLang="ko-KR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</a:p>
          <a:p>
            <a:r>
              <a:rPr lang="ko-KR" altLang="en-US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이로 인해 사용자들은 불쾌감과 정신적 피로를 느끼며</a:t>
            </a:r>
            <a:r>
              <a:rPr lang="en-US" altLang="ko-KR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ko-KR" altLang="en-US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댓글 문화의 건전성이 저하되고 있습니다</a:t>
            </a:r>
            <a:r>
              <a:rPr lang="en-US" altLang="ko-KR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 </a:t>
            </a:r>
            <a:endParaRPr lang="ko-KR" altLang="en-US" sz="2600" spc="-150" dirty="0">
              <a:solidFill>
                <a:schemeClr val="bg2">
                  <a:lumMod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2F7822-127E-D4DD-D959-B08BE617F120}"/>
              </a:ext>
            </a:extLst>
          </p:cNvPr>
          <p:cNvSpPr txBox="1"/>
          <p:nvPr/>
        </p:nvSpPr>
        <p:spPr>
          <a:xfrm>
            <a:off x="721527" y="5476962"/>
            <a:ext cx="483818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600" spc="-150" dirty="0">
                <a:solidFill>
                  <a:srgbClr val="D40C51"/>
                </a:solidFill>
                <a:latin typeface="Calibri" panose="020F0502020204030204" pitchFamily="34" charset="0"/>
                <a:ea typeface="Noto Sans KR Medium" panose="020B0200000000000000" pitchFamily="50" charset="-127"/>
                <a:cs typeface="Calibri" panose="020F0502020204030204" pitchFamily="34" charset="0"/>
              </a:rPr>
              <a:t>∙  </a:t>
            </a:r>
            <a:r>
              <a:rPr lang="ko-KR" altLang="en-US" sz="2600" spc="-150" dirty="0">
                <a:solidFill>
                  <a:srgbClr val="D40C5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Calibri" panose="020F0502020204030204" pitchFamily="34" charset="0"/>
              </a:rPr>
              <a:t>플랫폼 중심의 일괄 필터링 한계</a:t>
            </a:r>
            <a:endParaRPr lang="ko-KR" altLang="en-US" sz="2600" spc="-150" dirty="0">
              <a:solidFill>
                <a:srgbClr val="D40C5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33BA03-565F-B602-C06F-4459B04FF7EA}"/>
              </a:ext>
            </a:extLst>
          </p:cNvPr>
          <p:cNvSpPr txBox="1"/>
          <p:nvPr/>
        </p:nvSpPr>
        <p:spPr>
          <a:xfrm>
            <a:off x="721527" y="5953286"/>
            <a:ext cx="16841470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기존 댓글 관리 시스템은 기업에서 정한 기준으로만 작동하여</a:t>
            </a:r>
            <a:r>
              <a:rPr lang="en-US" altLang="ko-KR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 </a:t>
            </a:r>
            <a:r>
              <a:rPr lang="ko-KR" altLang="en-US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특정 정치적 인물</a:t>
            </a:r>
            <a:r>
              <a:rPr lang="en-US" altLang="ko-KR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lang="ko-KR" altLang="en-US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지역 관련발언 등등 사용자 개인의 </a:t>
            </a:r>
            <a:endParaRPr lang="en-US" altLang="ko-KR" sz="2600" spc="-150" dirty="0">
              <a:solidFill>
                <a:schemeClr val="bg2">
                  <a:lumMod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r>
              <a:rPr lang="ko-KR" altLang="en-US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감정적 기준이나 선호를 반영하지 못하는 단점이 있고 </a:t>
            </a:r>
            <a:r>
              <a:rPr lang="en-US" altLang="ko-KR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AI </a:t>
            </a:r>
            <a:r>
              <a:rPr lang="ko-KR" altLang="en-US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기반 자동 필터링 시스템 또한 똑같은 문제를 가지고 있습니다</a:t>
            </a:r>
            <a:r>
              <a:rPr lang="en-US" altLang="ko-KR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 </a:t>
            </a:r>
            <a:endParaRPr lang="ko-KR" altLang="en-US" sz="2600" spc="-150" dirty="0">
              <a:solidFill>
                <a:schemeClr val="bg2">
                  <a:lumMod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7CDA10-C07D-DF0B-679B-18CF059C6974}"/>
              </a:ext>
            </a:extLst>
          </p:cNvPr>
          <p:cNvSpPr txBox="1"/>
          <p:nvPr/>
        </p:nvSpPr>
        <p:spPr>
          <a:xfrm>
            <a:off x="641377" y="6909522"/>
            <a:ext cx="650690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600" spc="-150" dirty="0">
                <a:solidFill>
                  <a:srgbClr val="D40C51"/>
                </a:solidFill>
                <a:latin typeface="Calibri" panose="020F0502020204030204" pitchFamily="34" charset="0"/>
                <a:ea typeface="Noto Sans KR Medium" panose="020B0200000000000000" pitchFamily="50" charset="-127"/>
                <a:cs typeface="Calibri" panose="020F0502020204030204" pitchFamily="34" charset="0"/>
              </a:rPr>
              <a:t>∙  </a:t>
            </a:r>
            <a:r>
              <a:rPr lang="ko-KR" altLang="en-US" sz="2600" spc="-150" dirty="0">
                <a:solidFill>
                  <a:srgbClr val="D40C5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개인 맞춤형 필터링 시스템의 필요성 필요성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9490EC-164F-AF85-3102-6911E0D365DD}"/>
              </a:ext>
            </a:extLst>
          </p:cNvPr>
          <p:cNvSpPr txBox="1"/>
          <p:nvPr/>
        </p:nvSpPr>
        <p:spPr>
          <a:xfrm>
            <a:off x="682253" y="7436295"/>
            <a:ext cx="16256373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사용자가 스스로 금칙어를 등록하고 관리 할 수 있는 개인 맞춤형 댓글 필터링을 도입함으로써</a:t>
            </a:r>
            <a:r>
              <a:rPr lang="en-US" altLang="ko-KR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lang="ko-KR" altLang="en-US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각자의 기준에 따라 </a:t>
            </a:r>
            <a:endParaRPr lang="en-US" altLang="ko-KR" sz="2600" spc="-150" dirty="0">
              <a:solidFill>
                <a:schemeClr val="bg2">
                  <a:lumMod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r>
              <a:rPr lang="ko-KR" altLang="en-US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댓글 노출을 제어할 수 있는 사용자 중심의 댓글 관리 환경을 제공할 수 있습니다</a:t>
            </a:r>
            <a:r>
              <a:rPr lang="en-US" altLang="ko-KR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  <a:endParaRPr lang="ko-KR" altLang="en-US" sz="2600" spc="-150" dirty="0">
              <a:solidFill>
                <a:schemeClr val="bg2">
                  <a:lumMod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EBADEA-58DA-0DEB-4316-F58DB8282DAF}"/>
              </a:ext>
            </a:extLst>
          </p:cNvPr>
          <p:cNvSpPr txBox="1"/>
          <p:nvPr/>
        </p:nvSpPr>
        <p:spPr>
          <a:xfrm>
            <a:off x="881919" y="27387811"/>
            <a:ext cx="1015438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spc="-150" dirty="0">
                <a:solidFill>
                  <a:srgbClr val="D40C51"/>
                </a:solidFill>
                <a:latin typeface="Calibri" panose="020F0502020204030204" pitchFamily="34" charset="0"/>
                <a:ea typeface="Noto Sans KR Medium" panose="020B0200000000000000" pitchFamily="50" charset="-127"/>
                <a:cs typeface="Calibri" panose="020F0502020204030204" pitchFamily="34" charset="0"/>
              </a:rPr>
              <a:t>∙  온라인 커뮤니티 환경 개선 및  이용자 보호</a:t>
            </a:r>
            <a:r>
              <a:rPr lang="en-US" altLang="ko-KR" sz="2600" spc="-150" dirty="0">
                <a:solidFill>
                  <a:srgbClr val="D40C5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_</a:t>
            </a:r>
            <a:endParaRPr lang="ko-KR" altLang="en-US" sz="2600" spc="-150" dirty="0">
              <a:solidFill>
                <a:srgbClr val="D40C5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E43E6A-64B4-09E8-A4DE-E72014F6592A}"/>
              </a:ext>
            </a:extLst>
          </p:cNvPr>
          <p:cNvSpPr txBox="1"/>
          <p:nvPr/>
        </p:nvSpPr>
        <p:spPr>
          <a:xfrm>
            <a:off x="1038436" y="27775744"/>
            <a:ext cx="1580762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댓글 필터링 시스템을 통해 사용자가 직접 금칙어를 등록</a:t>
            </a:r>
            <a:r>
              <a:rPr lang="en-US" altLang="ko-KR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ko-KR" altLang="en-US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하고 관리를 할 수 있고 혐오</a:t>
            </a:r>
            <a:r>
              <a:rPr lang="en-US" altLang="ko-KR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ko-KR" altLang="en-US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욕설</a:t>
            </a:r>
            <a:r>
              <a:rPr lang="en-US" altLang="ko-KR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lang="ko-KR" altLang="en-US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정치적 </a:t>
            </a:r>
            <a:r>
              <a:rPr lang="ko-KR" altLang="en-US" sz="2600" spc="-150" dirty="0" err="1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분쟁성</a:t>
            </a:r>
            <a:r>
              <a:rPr lang="ko-KR" altLang="en-US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발언을 자동으로 감지</a:t>
            </a:r>
            <a:r>
              <a:rPr lang="en-US" altLang="ko-KR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ko-KR" altLang="en-US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차단 함으로써 이용자들의 쾌적한 온라인 환경 구축할 수 있습니다</a:t>
            </a:r>
            <a:r>
              <a:rPr lang="en-US" altLang="ko-KR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  <a:endParaRPr lang="ko-KR" altLang="en-US" sz="2600" spc="-150" dirty="0">
              <a:solidFill>
                <a:schemeClr val="bg2">
                  <a:lumMod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33753FA-A0AB-A5E8-2917-FDAF686CD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80" y="7592824"/>
            <a:ext cx="8494703" cy="180720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8AB7225E-56A3-3E1B-B479-D8BCBA1A0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4283" y="8690059"/>
            <a:ext cx="8696754" cy="3399699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B806ACFD-DCCC-E18B-143C-A9EC016840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179" y="9343894"/>
            <a:ext cx="4656473" cy="2688479"/>
          </a:xfrm>
          <a:prstGeom prst="rect">
            <a:avLst/>
          </a:prstGeom>
        </p:spPr>
      </p:pic>
      <p:grpSp>
        <p:nvGrpSpPr>
          <p:cNvPr id="53" name="그룹 52">
            <a:extLst>
              <a:ext uri="{FF2B5EF4-FFF2-40B4-BE49-F238E27FC236}">
                <a16:creationId xmlns:a16="http://schemas.microsoft.com/office/drawing/2014/main" id="{B75DC8E9-40EE-C9A9-24D1-B16231DFB108}"/>
              </a:ext>
            </a:extLst>
          </p:cNvPr>
          <p:cNvGrpSpPr/>
          <p:nvPr/>
        </p:nvGrpSpPr>
        <p:grpSpPr>
          <a:xfrm>
            <a:off x="1808078" y="13526685"/>
            <a:ext cx="13634633" cy="6420151"/>
            <a:chOff x="528041" y="12957202"/>
            <a:chExt cx="13634633" cy="6420151"/>
          </a:xfrm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6D87A33A-1B69-B68F-B65F-9AC09DF27492}"/>
                </a:ext>
              </a:extLst>
            </p:cNvPr>
            <p:cNvSpPr/>
            <p:nvPr/>
          </p:nvSpPr>
          <p:spPr>
            <a:xfrm>
              <a:off x="528041" y="12957202"/>
              <a:ext cx="3199543" cy="311441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DC0246B-B3C2-1665-40BD-B2D24B48DFC6}"/>
                </a:ext>
              </a:extLst>
            </p:cNvPr>
            <p:cNvSpPr txBox="1"/>
            <p:nvPr/>
          </p:nvSpPr>
          <p:spPr>
            <a:xfrm>
              <a:off x="1111812" y="13172233"/>
              <a:ext cx="203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dirty="0"/>
                <a:t>사용자 로그인 </a:t>
              </a:r>
              <a:endParaRPr lang="en-US" b="1" dirty="0"/>
            </a:p>
          </p:txBody>
        </p:sp>
        <p:pic>
          <p:nvPicPr>
            <p:cNvPr id="2050" name="Picture 2" descr="Google OAuth 2.0 with Profile Info Plugin | Bubble">
              <a:extLst>
                <a:ext uri="{FF2B5EF4-FFF2-40B4-BE49-F238E27FC236}">
                  <a16:creationId xmlns:a16="http://schemas.microsoft.com/office/drawing/2014/main" id="{5796537D-594B-532C-CE91-4087EEE431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9631" y="13577821"/>
              <a:ext cx="1437269" cy="14372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D365EA5-1EE8-5B60-A52F-CF449878B779}"/>
                </a:ext>
              </a:extLst>
            </p:cNvPr>
            <p:cNvSpPr txBox="1"/>
            <p:nvPr/>
          </p:nvSpPr>
          <p:spPr>
            <a:xfrm>
              <a:off x="581704" y="15180041"/>
              <a:ext cx="31849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</a:rPr>
                <a:t>Google </a:t>
              </a:r>
              <a:r>
                <a:rPr lang="en-US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</a:rPr>
                <a:t>Oauth</a:t>
              </a:r>
              <a:r>
                <a:rPr lang="ko-KR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</a:rPr>
                <a:t>로 사용자 식별</a:t>
              </a:r>
              <a:endPara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endParaRPr>
            </a:p>
            <a:p>
              <a:pPr algn="ctr"/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en-US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</a:rPr>
                <a:t>User_id</a:t>
              </a:r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ko-KR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</a:rPr>
                <a:t>발급</a:t>
              </a:r>
              <a:r>
                <a:rPr lang="en-US" altLang="ko-KR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</a:rPr>
                <a:t>)</a:t>
              </a:r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endParaRPr>
            </a:p>
          </p:txBody>
        </p: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E2B2ADB4-329A-6797-0CAB-D7409A40960E}"/>
                </a:ext>
              </a:extLst>
            </p:cNvPr>
            <p:cNvCxnSpPr>
              <a:cxnSpLocks/>
              <a:endCxn id="37" idx="0"/>
            </p:cNvCxnSpPr>
            <p:nvPr/>
          </p:nvCxnSpPr>
          <p:spPr>
            <a:xfrm flipH="1">
              <a:off x="4934265" y="16170080"/>
              <a:ext cx="976681" cy="78375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5C0AFE46-A473-52DE-2F14-235924C18EC6}"/>
                </a:ext>
              </a:extLst>
            </p:cNvPr>
            <p:cNvSpPr/>
            <p:nvPr/>
          </p:nvSpPr>
          <p:spPr>
            <a:xfrm>
              <a:off x="2606029" y="16953837"/>
              <a:ext cx="4656472" cy="242351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4A60589-32CB-D44B-C30B-EE95ABA1526E}"/>
                </a:ext>
              </a:extLst>
            </p:cNvPr>
            <p:cNvSpPr txBox="1"/>
            <p:nvPr/>
          </p:nvSpPr>
          <p:spPr>
            <a:xfrm>
              <a:off x="3888265" y="17059926"/>
              <a:ext cx="20368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dirty="0" err="1"/>
                <a:t>금칙어</a:t>
              </a:r>
              <a:r>
                <a:rPr lang="ko-KR" altLang="en-US" b="1" dirty="0"/>
                <a:t> 관리</a:t>
              </a:r>
              <a:endParaRPr lang="en-US" b="1" dirty="0"/>
            </a:p>
          </p:txBody>
        </p: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652BC7AE-75E3-1A5B-CF98-49EE3894C6F9}"/>
                </a:ext>
              </a:extLst>
            </p:cNvPr>
            <p:cNvCxnSpPr>
              <a:cxnSpLocks/>
            </p:cNvCxnSpPr>
            <p:nvPr/>
          </p:nvCxnSpPr>
          <p:spPr>
            <a:xfrm>
              <a:off x="11290705" y="16170080"/>
              <a:ext cx="1092331" cy="85551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052" name="Picture 4" descr="문서 저장 버튼은 왜 자판기 모양이죠?">
              <a:extLst>
                <a:ext uri="{FF2B5EF4-FFF2-40B4-BE49-F238E27FC236}">
                  <a16:creationId xmlns:a16="http://schemas.microsoft.com/office/drawing/2014/main" id="{6FEDB75E-620D-ED2C-C0BB-AD4BDCCFEB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7064" y="17542835"/>
              <a:ext cx="1591845" cy="15918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7872A75-CA95-6633-9F4A-1B431034F8DE}"/>
                </a:ext>
              </a:extLst>
            </p:cNvPr>
            <p:cNvSpPr txBox="1"/>
            <p:nvPr/>
          </p:nvSpPr>
          <p:spPr>
            <a:xfrm>
              <a:off x="11424972" y="17163381"/>
              <a:ext cx="157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dirty="0"/>
                <a:t>댓글 필터링</a:t>
              </a:r>
              <a:endParaRPr lang="en-US" b="1" dirty="0"/>
            </a:p>
          </p:txBody>
        </p:sp>
        <p:pic>
          <p:nvPicPr>
            <p:cNvPr id="2058" name="Picture 10" descr="필터 아이콘 PNG, 일러스트, PSD 및 클립 아트에 대한 무료 ...">
              <a:extLst>
                <a:ext uri="{FF2B5EF4-FFF2-40B4-BE49-F238E27FC236}">
                  <a16:creationId xmlns:a16="http://schemas.microsoft.com/office/drawing/2014/main" id="{0D27C5B5-ABDC-928D-8E22-6C3952054D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3992" y="17567043"/>
              <a:ext cx="1697154" cy="14643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3D0A778-557C-0D26-AAC7-B939ACF63820}"/>
                </a:ext>
              </a:extLst>
            </p:cNvPr>
            <p:cNvSpPr txBox="1"/>
            <p:nvPr/>
          </p:nvSpPr>
          <p:spPr>
            <a:xfrm>
              <a:off x="11609974" y="17642538"/>
              <a:ext cx="2552700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Tx/>
                <a:buChar char="-"/>
              </a:pPr>
              <a:r>
                <a:rPr lang="en-US" altLang="ko-KR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MutationObserver</a:t>
              </a:r>
              <a:r>
                <a:rPr lang="ko-KR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로 </a:t>
              </a:r>
              <a:r>
                <a:rPr lang="en-US" altLang="ko-KR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DOM </a:t>
              </a:r>
              <a:r>
                <a:rPr lang="ko-KR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감시</a:t>
              </a:r>
              <a:endPara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  <a:p>
              <a:pPr marL="285750" indent="-285750">
                <a:buFontTx/>
                <a:buChar char="-"/>
              </a:pPr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  <a:p>
              <a:pPr marL="285750" indent="-285750">
                <a:buFontTx/>
                <a:buChar char="-"/>
              </a:pPr>
              <a:r>
                <a:rPr lang="ko-KR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등록된 </a:t>
              </a:r>
              <a:r>
                <a:rPr lang="ko-KR" altLang="en-US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금칙어</a:t>
              </a:r>
              <a:r>
                <a:rPr lang="ko-KR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탐지 시 </a:t>
              </a:r>
              <a:r>
                <a:rPr lang="ko-KR" altLang="en-US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블러</a:t>
              </a:r>
              <a:r>
                <a:rPr lang="ko-KR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처리</a:t>
              </a:r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25" name="그림 24">
            <a:extLst>
              <a:ext uri="{FF2B5EF4-FFF2-40B4-BE49-F238E27FC236}">
                <a16:creationId xmlns:a16="http://schemas.microsoft.com/office/drawing/2014/main" id="{9158A356-4234-652F-70E0-02B59282EF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7418" y="22201050"/>
            <a:ext cx="2947306" cy="339152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F67D7F2-CC2A-1BD0-5822-7BC068B6E0DB}"/>
              </a:ext>
            </a:extLst>
          </p:cNvPr>
          <p:cNvSpPr txBox="1"/>
          <p:nvPr/>
        </p:nvSpPr>
        <p:spPr>
          <a:xfrm>
            <a:off x="1645861" y="25621131"/>
            <a:ext cx="2556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확장프로그램 선택 후</a:t>
            </a:r>
            <a:endParaRPr lang="en-US" altLang="ko-KR" dirty="0"/>
          </a:p>
          <a:p>
            <a:r>
              <a:rPr lang="ko-KR" altLang="en-US" dirty="0"/>
              <a:t>구글 계정으로 로그인 </a:t>
            </a:r>
            <a:endParaRPr lang="en-US" dirty="0"/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7C345FC7-AB3B-8FA7-E906-CA804B4CC8BC}"/>
              </a:ext>
            </a:extLst>
          </p:cNvPr>
          <p:cNvGrpSpPr/>
          <p:nvPr/>
        </p:nvGrpSpPr>
        <p:grpSpPr>
          <a:xfrm>
            <a:off x="6702642" y="13423633"/>
            <a:ext cx="6796054" cy="3280947"/>
            <a:chOff x="5306212" y="13369975"/>
            <a:chExt cx="6796054" cy="3280947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72AAD085-3116-0A6E-3192-BBF7A965D135}"/>
                </a:ext>
              </a:extLst>
            </p:cNvPr>
            <p:cNvSpPr/>
            <p:nvPr/>
          </p:nvSpPr>
          <p:spPr>
            <a:xfrm>
              <a:off x="5306212" y="13369975"/>
              <a:ext cx="6796054" cy="3280947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0C521498-C6EB-4F29-EC5A-ED00C5E004B8}"/>
                </a:ext>
              </a:extLst>
            </p:cNvPr>
            <p:cNvGrpSpPr/>
            <p:nvPr/>
          </p:nvGrpSpPr>
          <p:grpSpPr>
            <a:xfrm>
              <a:off x="5384435" y="13402258"/>
              <a:ext cx="6554699" cy="3100067"/>
              <a:chOff x="5384435" y="13402258"/>
              <a:chExt cx="6554699" cy="3100067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23E3007-2757-FFB9-327B-0E03A29727F9}"/>
                  </a:ext>
                </a:extLst>
              </p:cNvPr>
              <p:cNvSpPr txBox="1"/>
              <p:nvPr/>
            </p:nvSpPr>
            <p:spPr>
              <a:xfrm>
                <a:off x="5384435" y="15855994"/>
                <a:ext cx="655469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FastAPI</a:t>
                </a:r>
                <a:r>
                  <a: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en-US" altLang="ko-K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+</a:t>
                </a:r>
                <a:r>
                  <a: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en-US" altLang="ko-K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MySQL </a:t>
                </a:r>
                <a:r>
                  <a: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기반 사용자 </a:t>
                </a:r>
                <a:r>
                  <a:rPr lang="ko-KR" altLang="en-US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금칙어</a:t>
                </a:r>
                <a:r>
                  <a: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관리</a:t>
                </a:r>
                <a:r>
                  <a:rPr lang="en-US" altLang="ko-K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/API</a:t>
                </a:r>
              </a:p>
              <a:p>
                <a:pPr algn="ctr"/>
                <a:r>
                  <a: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사용자별 실시간 </a:t>
                </a:r>
                <a:r>
                  <a:rPr lang="ko-KR" altLang="en-US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금칙어</a:t>
                </a:r>
                <a:r>
                  <a: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등록</a:t>
                </a:r>
                <a:r>
                  <a:rPr lang="en-US" altLang="ko-K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</a:t>
                </a:r>
                <a:r>
                  <a: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조회</a:t>
                </a:r>
                <a:r>
                  <a:rPr lang="en-US" altLang="ko-K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</a:t>
                </a:r>
                <a:r>
                  <a: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삭제</a:t>
                </a:r>
                <a:r>
                  <a:rPr lang="en-US" altLang="ko-K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</a:t>
                </a:r>
                <a:r>
                  <a: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인증 연동 제공</a:t>
                </a:r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pic>
            <p:nvPicPr>
              <p:cNvPr id="19" name="Picture 10" descr="MySQL - 나무위키">
                <a:extLst>
                  <a:ext uri="{FF2B5EF4-FFF2-40B4-BE49-F238E27FC236}">
                    <a16:creationId xmlns:a16="http://schemas.microsoft.com/office/drawing/2014/main" id="{97A3D470-BBAC-C68E-AA66-02916298930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715081" y="14561448"/>
                <a:ext cx="1881616" cy="116697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2" name="화살표: 왼쪽/오른쪽 41">
                <a:extLst>
                  <a:ext uri="{FF2B5EF4-FFF2-40B4-BE49-F238E27FC236}">
                    <a16:creationId xmlns:a16="http://schemas.microsoft.com/office/drawing/2014/main" id="{1F763EC7-B986-5BE0-24D1-599E8D2EBCFE}"/>
                  </a:ext>
                </a:extLst>
              </p:cNvPr>
              <p:cNvSpPr/>
              <p:nvPr/>
            </p:nvSpPr>
            <p:spPr>
              <a:xfrm>
                <a:off x="8011030" y="15179117"/>
                <a:ext cx="1301510" cy="165880"/>
              </a:xfrm>
              <a:prstGeom prst="leftRightArrow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9" name="그룹 48">
                <a:extLst>
                  <a:ext uri="{FF2B5EF4-FFF2-40B4-BE49-F238E27FC236}">
                    <a16:creationId xmlns:a16="http://schemas.microsoft.com/office/drawing/2014/main" id="{06695A3E-97D0-DAC6-3C0D-F82657D1A5D9}"/>
                  </a:ext>
                </a:extLst>
              </p:cNvPr>
              <p:cNvGrpSpPr/>
              <p:nvPr/>
            </p:nvGrpSpPr>
            <p:grpSpPr>
              <a:xfrm>
                <a:off x="7187324" y="13402258"/>
                <a:ext cx="2997866" cy="1253390"/>
                <a:chOff x="7551680" y="13470197"/>
                <a:chExt cx="2997866" cy="1253390"/>
              </a:xfrm>
            </p:grpSpPr>
            <p:pic>
              <p:nvPicPr>
                <p:cNvPr id="1026" name="Picture 2" descr="Logo, Icon, and Brand Guidelines | Docker">
                  <a:extLst>
                    <a:ext uri="{FF2B5EF4-FFF2-40B4-BE49-F238E27FC236}">
                      <a16:creationId xmlns:a16="http://schemas.microsoft.com/office/drawing/2014/main" id="{A477DFA7-FB10-1A4A-8EB5-52D26466FC9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724370" y="13470197"/>
                  <a:ext cx="2103829" cy="125339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1EFC041B-DFA3-C498-3E69-C12F4104D944}"/>
                    </a:ext>
                  </a:extLst>
                </p:cNvPr>
                <p:cNvSpPr txBox="1"/>
                <p:nvPr/>
              </p:nvSpPr>
              <p:spPr>
                <a:xfrm>
                  <a:off x="7551680" y="14343542"/>
                  <a:ext cx="299786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Docker Compose(</a:t>
                  </a:r>
                  <a:r>
                    <a:rPr lang="ko-KR" altLang="en-US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컨테이너 환경</a:t>
                  </a:r>
                  <a:r>
                    <a:rPr lang="en-US" altLang="ko-KR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)</a:t>
                  </a:r>
                  <a:endParaRPr 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</p:grpSp>
          <p:pic>
            <p:nvPicPr>
              <p:cNvPr id="16" name="Picture 8">
                <a:extLst>
                  <a:ext uri="{FF2B5EF4-FFF2-40B4-BE49-F238E27FC236}">
                    <a16:creationId xmlns:a16="http://schemas.microsoft.com/office/drawing/2014/main" id="{497C30AA-561A-89DC-0802-A4C462F98C9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55721" y="15010037"/>
                <a:ext cx="1874024" cy="45141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9C02A34-FE9F-C6CA-58D1-DA8A8197302F}"/>
              </a:ext>
            </a:extLst>
          </p:cNvPr>
          <p:cNvSpPr txBox="1"/>
          <p:nvPr/>
        </p:nvSpPr>
        <p:spPr>
          <a:xfrm>
            <a:off x="9301244" y="12874246"/>
            <a:ext cx="14608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Server</a:t>
            </a: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FD0E08E7-976B-8DA5-6FFD-248DFE70DE78}"/>
              </a:ext>
            </a:extLst>
          </p:cNvPr>
          <p:cNvCxnSpPr>
            <a:cxnSpLocks/>
          </p:cNvCxnSpPr>
          <p:nvPr/>
        </p:nvCxnSpPr>
        <p:spPr>
          <a:xfrm>
            <a:off x="5021530" y="15103592"/>
            <a:ext cx="16697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8262E52C-9EE3-C3FF-0D3C-94C93E81CB0F}"/>
              </a:ext>
            </a:extLst>
          </p:cNvPr>
          <p:cNvSpPr txBox="1"/>
          <p:nvPr/>
        </p:nvSpPr>
        <p:spPr>
          <a:xfrm>
            <a:off x="5186813" y="14842940"/>
            <a:ext cx="14767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구글 로그인 연동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F4170A38-3E2E-7D48-0290-E431B8B4428A}"/>
              </a:ext>
            </a:extLst>
          </p:cNvPr>
          <p:cNvSpPr txBox="1"/>
          <p:nvPr/>
        </p:nvSpPr>
        <p:spPr>
          <a:xfrm>
            <a:off x="5848771" y="18098149"/>
            <a:ext cx="25654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욕설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정치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혐오 등 단어 추가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삭제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조회 </a:t>
            </a: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en-US" altLang="ko-KR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FastAPI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API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와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비동기 통신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(Fetch) 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035" name="그림 1034">
            <a:extLst>
              <a:ext uri="{FF2B5EF4-FFF2-40B4-BE49-F238E27FC236}">
                <a16:creationId xmlns:a16="http://schemas.microsoft.com/office/drawing/2014/main" id="{494C55C3-5F73-EE98-3B26-F052B842221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82542" y="21630694"/>
            <a:ext cx="3208407" cy="3809795"/>
          </a:xfrm>
          <a:prstGeom prst="rect">
            <a:avLst/>
          </a:prstGeom>
        </p:spPr>
      </p:pic>
      <p:pic>
        <p:nvPicPr>
          <p:cNvPr id="1036" name="그림 1035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485A03-5547-6766-2C2A-D0D66E56718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318" y="22228272"/>
            <a:ext cx="2825314" cy="3251148"/>
          </a:xfrm>
          <a:prstGeom prst="rect">
            <a:avLst/>
          </a:prstGeom>
        </p:spPr>
      </p:pic>
      <p:pic>
        <p:nvPicPr>
          <p:cNvPr id="1037" name="그림 1036">
            <a:extLst>
              <a:ext uri="{FF2B5EF4-FFF2-40B4-BE49-F238E27FC236}">
                <a16:creationId xmlns:a16="http://schemas.microsoft.com/office/drawing/2014/main" id="{986B3198-D2CD-F43F-3FC5-4C18F7898C8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98716" y="22230510"/>
            <a:ext cx="2825314" cy="3251148"/>
          </a:xfrm>
          <a:prstGeom prst="rect">
            <a:avLst/>
          </a:prstGeom>
        </p:spPr>
      </p:pic>
      <p:sp>
        <p:nvSpPr>
          <p:cNvPr id="1038" name="TextBox 1037">
            <a:extLst>
              <a:ext uri="{FF2B5EF4-FFF2-40B4-BE49-F238E27FC236}">
                <a16:creationId xmlns:a16="http://schemas.microsoft.com/office/drawing/2014/main" id="{AE96905D-B011-724F-8C40-CE54954B71BE}"/>
              </a:ext>
            </a:extLst>
          </p:cNvPr>
          <p:cNvSpPr txBox="1"/>
          <p:nvPr/>
        </p:nvSpPr>
        <p:spPr>
          <a:xfrm>
            <a:off x="5233259" y="25869591"/>
            <a:ext cx="2556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금칙어</a:t>
            </a:r>
            <a:r>
              <a:rPr lang="ko-KR" altLang="en-US" dirty="0"/>
              <a:t> 설정</a:t>
            </a:r>
            <a:endParaRPr lang="en-US" dirty="0"/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F83604A6-4DF3-09AC-B191-026EC0F24D7D}"/>
              </a:ext>
            </a:extLst>
          </p:cNvPr>
          <p:cNvSpPr txBox="1"/>
          <p:nvPr/>
        </p:nvSpPr>
        <p:spPr>
          <a:xfrm>
            <a:off x="9164289" y="25768135"/>
            <a:ext cx="2556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설정한 </a:t>
            </a:r>
            <a:r>
              <a:rPr lang="ko-KR" altLang="en-US" dirty="0" err="1"/>
              <a:t>금칙어</a:t>
            </a:r>
            <a:r>
              <a:rPr lang="ko-KR" altLang="en-US" dirty="0"/>
              <a:t> </a:t>
            </a:r>
            <a:r>
              <a:rPr lang="ko-KR" altLang="en-US" dirty="0" err="1"/>
              <a:t>블러</a:t>
            </a:r>
            <a:endParaRPr lang="en-US" altLang="ko-KR" dirty="0"/>
          </a:p>
          <a:p>
            <a:pPr algn="ctr"/>
            <a:r>
              <a:rPr lang="en-US" dirty="0"/>
              <a:t>(</a:t>
            </a:r>
            <a:r>
              <a:rPr lang="ko-KR" altLang="en-US" dirty="0"/>
              <a:t>네이버 뉴스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BBF4E4AB-2EDA-BF03-61E0-697541ECF133}"/>
              </a:ext>
            </a:extLst>
          </p:cNvPr>
          <p:cNvSpPr txBox="1"/>
          <p:nvPr/>
        </p:nvSpPr>
        <p:spPr>
          <a:xfrm>
            <a:off x="13108631" y="25638620"/>
            <a:ext cx="2556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설정한 </a:t>
            </a:r>
            <a:r>
              <a:rPr lang="ko-KR" altLang="en-US" dirty="0" err="1"/>
              <a:t>금칙어</a:t>
            </a:r>
            <a:r>
              <a:rPr lang="ko-KR" altLang="en-US" dirty="0"/>
              <a:t> </a:t>
            </a:r>
            <a:r>
              <a:rPr lang="ko-KR" altLang="en-US" dirty="0" err="1"/>
              <a:t>블러</a:t>
            </a:r>
            <a:endParaRPr lang="en-US" altLang="ko-KR" dirty="0"/>
          </a:p>
          <a:p>
            <a:pPr algn="ctr"/>
            <a:r>
              <a:rPr lang="en-US" dirty="0"/>
              <a:t>(</a:t>
            </a:r>
            <a:r>
              <a:rPr lang="ko-KR" altLang="en-US" dirty="0"/>
              <a:t>유튜브 댓글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EFBCF6FE-63A9-30B4-909B-38B865873428}"/>
              </a:ext>
            </a:extLst>
          </p:cNvPr>
          <p:cNvSpPr txBox="1"/>
          <p:nvPr/>
        </p:nvSpPr>
        <p:spPr>
          <a:xfrm>
            <a:off x="795269" y="28668296"/>
            <a:ext cx="1015438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spc="-150" dirty="0">
                <a:solidFill>
                  <a:srgbClr val="D40C51"/>
                </a:solidFill>
                <a:latin typeface="Calibri" panose="020F0502020204030204" pitchFamily="34" charset="0"/>
                <a:ea typeface="Noto Sans KR Medium" panose="020B0200000000000000" pitchFamily="50" charset="-127"/>
                <a:cs typeface="Calibri" panose="020F0502020204030204" pitchFamily="34" charset="0"/>
              </a:rPr>
              <a:t>∙  확장성과 기술적  활용 가능성</a:t>
            </a:r>
            <a:r>
              <a:rPr lang="en-US" altLang="ko-KR" sz="2600" spc="-150" dirty="0">
                <a:solidFill>
                  <a:srgbClr val="D40C5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_</a:t>
            </a:r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9237B3C9-972D-40BE-314A-2FD70620F52A}"/>
              </a:ext>
            </a:extLst>
          </p:cNvPr>
          <p:cNvSpPr txBox="1"/>
          <p:nvPr/>
        </p:nvSpPr>
        <p:spPr>
          <a:xfrm>
            <a:off x="941814" y="29110140"/>
            <a:ext cx="1504913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00" spc="-150" dirty="0" err="1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FastAPI</a:t>
            </a:r>
            <a:r>
              <a:rPr lang="ko-KR" altLang="en-US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와 </a:t>
            </a:r>
            <a:r>
              <a:rPr lang="en-US" altLang="ko-KR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MySQL Docker </a:t>
            </a:r>
            <a:r>
              <a:rPr lang="ko-KR" altLang="en-US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기반의 구조로 설계되어 있어</a:t>
            </a:r>
            <a:r>
              <a:rPr lang="en-US" altLang="ko-KR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ko-KR" altLang="en-US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다른 웹사이트에도 쉽게 확장</a:t>
            </a:r>
            <a:r>
              <a:rPr lang="en-US" altLang="ko-KR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ko-KR" altLang="en-US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적용이 가능</a:t>
            </a:r>
            <a:endParaRPr lang="en-US" altLang="ko-KR" sz="2600" spc="-150" dirty="0">
              <a:solidFill>
                <a:schemeClr val="bg2">
                  <a:lumMod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r>
              <a:rPr lang="ko-KR" altLang="en-US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네이버</a:t>
            </a:r>
            <a:r>
              <a:rPr lang="en-US" altLang="ko-KR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ko-KR" altLang="en-US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유튜브에 있는 </a:t>
            </a:r>
            <a:r>
              <a:rPr lang="en-US" altLang="ko-KR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AI </a:t>
            </a:r>
            <a:r>
              <a:rPr lang="ko-KR" altLang="en-US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댓글 탐지 프로그램과도 상호 보완적 관계가 될 수 있습니다</a:t>
            </a:r>
            <a:r>
              <a:rPr lang="en-US" altLang="ko-KR" sz="2600" spc="-150" dirty="0">
                <a:solidFill>
                  <a:schemeClr val="bg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  <a:endParaRPr lang="ko-KR" altLang="en-US" sz="2600" spc="-150" dirty="0">
              <a:solidFill>
                <a:schemeClr val="bg2">
                  <a:lumMod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0176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393</TotalTime>
  <Words>303</Words>
  <Application>Microsoft Office PowerPoint</Application>
  <PresentationFormat>사용자 지정</PresentationFormat>
  <Paragraphs>41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Noto Sans KR Medium</vt:lpstr>
      <vt:lpstr>Aptos</vt:lpstr>
      <vt:lpstr>Aptos Display</vt:lpstr>
      <vt:lpstr>Arial</vt:lpstr>
      <vt:lpstr>Calibri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박윤진(수학전공)</dc:creator>
  <cp:lastModifiedBy>ko byungkyoo</cp:lastModifiedBy>
  <cp:revision>22</cp:revision>
  <dcterms:created xsi:type="dcterms:W3CDTF">2025-10-24T01:02:46Z</dcterms:created>
  <dcterms:modified xsi:type="dcterms:W3CDTF">2025-11-01T14:12:26Z</dcterms:modified>
</cp:coreProperties>
</file>